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judges. Odisha is an industrial powerhouse with world-class technical institutes like IIT Bhubaneswar, NIT Rourkela, and VSSUT, alongside legendary disaster management leadership. Yet, its AI talent, university research, and heavy industries operate in disconnected silos. Today, we introduce Odisha AI Nexus — a fully functional, multilingual, and 100% local platform that bridges grassroots innovators across Odisha's 30 districts with regional challenges and global markets.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great student projects stay as college assignments while local industries look outside the state for solutions? Because there is no discovery bridge. Furthermore, language barriers keep non-English speakers out of the AI conversation. We set out to solve this fundamental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you can see on the screen, this is our live Executive Dashboard. It gives instant visibility into the state's AI assets. Notice the de-clustered sector analytics and verified project badges — all engineered to adapt smoothly across mobile, tablet, and PC screens.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demonstration project in our platform is culturally and economically grounded in Odisha's real challenges — from paddy pest mitigation in Bargarh to blast furnace safety in Kalinganagar and Sambalpuri handloom protection.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innovator or beneficiary in Odisha communicates in English. We built native tri-lingual support and an interactive Web Speech companion. Users can listen to page briefings aloud in Odia or speak their search queries directly into the microphone.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deliberately avoid black-box proprietary APIs that cost money and hallucinate. Our Opportunity Explorer uses transparent, weighted multi-criteria decision analysis. Innovators get a concrete 0-to-100 score, a 6-factor radar breakdown, identified blindspots, and target export corridors.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verified researcher profiles with masked emails for privacy protection. On the right, our automated AI Synergy Matcher pairing candidate skills with project requirements, complete with explainable matching reasons.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engineered this system to run 100% on a laptop without requiring expensive cloud subscriptions or Firebase credentials. Even Google Sign-In is verified locally, backed by HMAC-SHA256 session signatures and persistent immutable audit logs.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investors and government leaders, the platform compiles publication-ready executive PDF dossiers in one click, diagnosing compliance gaps and mapping solutions directly to international markets like the Indo-Pacific and Southeast Asia.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Odisha AI Nexus is not just an idea — it is a production-tested, fully operational MVP with 37 passing unit tests, responsive UI across all devices, and genuine multilingual voice capabilities. We invite you to join us in powering Odisha's AI future.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92E"/>
        </a:solidFill>
        <a:effectLst/>
      </p:bgPr>
    </p:bg>
    <p:spTree>
      <p:nvGrpSpPr>
        <p:cNvPr id="1" name=""/>
        <p:cNvGrpSpPr/>
        <p:nvPr/>
      </p:nvGrpSpPr>
      <p:grpSpPr/>
      <p:sp>
        <p:nvSpPr>
          <p:cNvPr id="2" name="Rectangle 1"/>
          <p:cNvSpPr/>
          <p:nvPr/>
        </p:nvSpPr>
        <p:spPr>
          <a:xfrm>
            <a:off x="731520" y="1645920"/>
            <a:ext cx="10728655" cy="3931920"/>
          </a:xfrm>
          <a:prstGeom prst="rect">
            <a:avLst/>
          </a:prstGeom>
          <a:solidFill>
            <a:srgbClr val="0F213A"/>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10058400" cy="3291840"/>
          </a:xfrm>
          <a:prstGeom prst="rect">
            <a:avLst/>
          </a:prstGeom>
          <a:noFill/>
        </p:spPr>
        <p:txBody>
          <a:bodyPr wrap="square">
            <a:spAutoFit/>
          </a:bodyPr>
          <a:lstStyle/>
          <a:p>
            <a:pPr>
              <a:defRPr sz="4200" b="1">
                <a:solidFill>
                  <a:srgbClr val="00F0FF"/>
                </a:solidFill>
                <a:latin typeface="Calibri"/>
              </a:defRPr>
            </a:pPr>
            <a:r>
              <a:t>⚡ ODISHA AI NEXUS</a:t>
            </a:r>
          </a:p>
          <a:p>
            <a:pPr>
              <a:spcBef>
                <a:spcPts val="800"/>
              </a:spcBef>
              <a:defRPr sz="2400">
                <a:solidFill>
                  <a:srgbClr val="FFFFFF"/>
                </a:solidFill>
                <a:latin typeface="Calibri"/>
              </a:defRPr>
            </a:pPr>
            <a:r>
              <a:t>Local Innovation. Global Impact.</a:t>
            </a:r>
          </a:p>
          <a:p>
            <a:pPr>
              <a:spcBef>
                <a:spcPts val="1800"/>
              </a:spcBef>
              <a:defRPr sz="1500">
                <a:solidFill>
                  <a:srgbClr val="94A3B8"/>
                </a:solidFill>
                <a:latin typeface="Calibri"/>
              </a:defRPr>
            </a:pPr>
            <a:r>
              <a:t>Unifying Odisha's 30 districts, premier academic institutes, heavy industries, and overseas markets on a 100% local, multilingual AI ecosystem platform.</a:t>
            </a:r>
          </a:p>
          <a:p>
            <a:pPr>
              <a:spcBef>
                <a:spcPts val="2400"/>
              </a:spcBef>
              <a:defRPr sz="1300" b="1">
                <a:solidFill>
                  <a:srgbClr val="10B981"/>
                </a:solidFill>
                <a:latin typeface="Calibri"/>
              </a:defRPr>
            </a:pPr>
            <a:r>
              <a:t>🌐 Tri-Lingual (English | ଓଡ଼ିଆ | हिन्दी)   •   🔒 100% Local SQLite / Zero Cloud   •   🎙️ Web Speech Voice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92E"/>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800" b="1">
                <a:solidFill>
                  <a:srgbClr val="FFFFFF"/>
                </a:solidFill>
                <a:latin typeface="Calibri"/>
              </a:defRPr>
            </a:pPr>
            <a:r>
              <a:t>The Regional Paradox: High Capability, Disconnected Silos</a:t>
            </a:r>
          </a:p>
          <a:p>
            <a:pPr>
              <a:spcBef>
                <a:spcPts val="400"/>
              </a:spcBef>
              <a:defRPr sz="1300">
                <a:solidFill>
                  <a:srgbClr val="00F0FF"/>
                </a:solidFill>
                <a:latin typeface="Calibri"/>
              </a:defRPr>
            </a:pPr>
            <a:r>
              <a:t>Why Odisha's brightest tech innovations struggle to reach adoption and global scale</a:t>
            </a:r>
          </a:p>
        </p:txBody>
      </p:sp>
      <p:sp>
        <p:nvSpPr>
          <p:cNvPr id="3" name="Rounded Rectangle 2"/>
          <p:cNvSpPr/>
          <p:nvPr/>
        </p:nvSpPr>
        <p:spPr>
          <a:xfrm>
            <a:off x="731520" y="1645920"/>
            <a:ext cx="2560320" cy="4389120"/>
          </a:xfrm>
          <a:prstGeom prst="roundRect">
            <a:avLst/>
          </a:prstGeom>
          <a:solidFill>
            <a:srgbClr val="0F213A"/>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0F0FF"/>
                </a:solidFill>
                <a:latin typeface="Calibri"/>
              </a:defRPr>
            </a:pPr>
            <a:r>
              <a:t>🎓 Academic Silos</a:t>
            </a:r>
          </a:p>
          <a:p>
            <a:pPr>
              <a:spcBef>
                <a:spcPts val="1400"/>
              </a:spcBef>
              <a:defRPr sz="1400">
                <a:solidFill>
                  <a:srgbClr val="FFFFFF"/>
                </a:solidFill>
                <a:latin typeface="Calibri"/>
              </a:defRPr>
            </a:pPr>
            <a:r>
              <a:t>Student models at IIT, NIT, and VSSUT remain confined to college labs and GitHub repos, lacking exposure to local enterprise buyers.</a:t>
            </a:r>
          </a:p>
        </p:txBody>
      </p:sp>
      <p:sp>
        <p:nvSpPr>
          <p:cNvPr id="4" name="Rounded Rectangle 3"/>
          <p:cNvSpPr/>
          <p:nvPr/>
        </p:nvSpPr>
        <p:spPr>
          <a:xfrm>
            <a:off x="3456432" y="1645920"/>
            <a:ext cx="2560320" cy="4389120"/>
          </a:xfrm>
          <a:prstGeom prst="roundRect">
            <a:avLst/>
          </a:prstGeom>
          <a:solidFill>
            <a:srgbClr val="0F21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59E0B"/>
                </a:solidFill>
                <a:latin typeface="Calibri"/>
              </a:defRPr>
            </a:pPr>
            <a:r>
              <a:t>🏭 Heavy Industry Bottlenecks</a:t>
            </a:r>
          </a:p>
          <a:p>
            <a:pPr>
              <a:spcBef>
                <a:spcPts val="1400"/>
              </a:spcBef>
              <a:defRPr sz="1400">
                <a:solidFill>
                  <a:srgbClr val="FFFFFF"/>
                </a:solidFill>
                <a:latin typeface="Calibri"/>
              </a:defRPr>
            </a:pPr>
            <a:r>
              <a:t>Steel plants in Kalinganagar, mines in Keonjhar, and ports in Paradip face critical bottlenecks but lack access to local AI solvers.</a:t>
            </a:r>
          </a:p>
        </p:txBody>
      </p:sp>
      <p:sp>
        <p:nvSpPr>
          <p:cNvPr id="5" name="Rounded Rectangle 4"/>
          <p:cNvSpPr/>
          <p:nvPr/>
        </p:nvSpPr>
        <p:spPr>
          <a:xfrm>
            <a:off x="6181344" y="1645920"/>
            <a:ext cx="2560320" cy="4389120"/>
          </a:xfrm>
          <a:prstGeom prst="roundRect">
            <a:avLst/>
          </a:prstGeom>
          <a:solidFill>
            <a:srgbClr val="0F21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0B981"/>
                </a:solidFill>
                <a:latin typeface="Calibri"/>
              </a:defRPr>
            </a:pPr>
            <a:r>
              <a:t>🗣️ Linguistic Exclusion</a:t>
            </a:r>
          </a:p>
          <a:p>
            <a:pPr>
              <a:spcBef>
                <a:spcPts val="1400"/>
              </a:spcBef>
              <a:defRPr sz="1400">
                <a:solidFill>
                  <a:srgbClr val="FFFFFF"/>
                </a:solidFill>
                <a:latin typeface="Calibri"/>
              </a:defRPr>
            </a:pPr>
            <a:r>
              <a:t>Standard AI platforms are 100% English-only, cutting off local artisans, farmers, and grassroots entrepreneurs who speak Odia or Hindi.</a:t>
            </a:r>
          </a:p>
        </p:txBody>
      </p:sp>
      <p:sp>
        <p:nvSpPr>
          <p:cNvPr id="6" name="Rounded Rectangle 5"/>
          <p:cNvSpPr/>
          <p:nvPr/>
        </p:nvSpPr>
        <p:spPr>
          <a:xfrm>
            <a:off x="8906256" y="1645920"/>
            <a:ext cx="2560320" cy="4389120"/>
          </a:xfrm>
          <a:prstGeom prst="roundRect">
            <a:avLst/>
          </a:prstGeom>
          <a:solidFill>
            <a:srgbClr val="0F213A"/>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0F0FF"/>
                </a:solidFill>
                <a:latin typeface="Calibri"/>
              </a:defRPr>
            </a:pPr>
            <a:r>
              <a:t>🌐 The Export Vacuum</a:t>
            </a:r>
          </a:p>
          <a:p>
            <a:pPr>
              <a:spcBef>
                <a:spcPts val="1400"/>
              </a:spcBef>
              <a:defRPr sz="1400">
                <a:solidFill>
                  <a:srgbClr val="FFFFFF"/>
                </a:solidFill>
                <a:latin typeface="Calibri"/>
              </a:defRPr>
            </a:pPr>
            <a:r>
              <a:t>Early-stage prototypes lack structured compliance frameworks (DPDP Act 2023, GDPR, Edge latency) to reach international buyers.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92E"/>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800" b="1">
                <a:solidFill>
                  <a:srgbClr val="FFFFFF"/>
                </a:solidFill>
                <a:latin typeface="Calibri"/>
              </a:defRPr>
            </a:pPr>
            <a:r>
              <a:t>Executive Command Center &amp; Responsive Analytics</a:t>
            </a:r>
          </a:p>
          <a:p>
            <a:pPr>
              <a:spcBef>
                <a:spcPts val="400"/>
              </a:spcBef>
              <a:defRPr sz="1300">
                <a:solidFill>
                  <a:srgbClr val="00F0FF"/>
                </a:solidFill>
                <a:latin typeface="Calibri"/>
              </a:defRPr>
            </a:pPr>
            <a:r>
              <a:t>One unified discovery and decision-support layer for regional applied intelligence</a:t>
            </a:r>
          </a:p>
        </p:txBody>
      </p:sp>
      <p:pic>
        <p:nvPicPr>
          <p:cNvPr id="3" name="Picture 2" descr="1_dashboard_overview.jpg"/>
          <p:cNvPicPr>
            <a:picLocks noChangeAspect="1"/>
          </p:cNvPicPr>
          <p:nvPr/>
        </p:nvPicPr>
        <p:blipFill>
          <a:blip r:embed="rId2"/>
          <a:stretch>
            <a:fillRect/>
          </a:stretch>
        </p:blipFill>
        <p:spPr>
          <a:xfrm>
            <a:off x="731520" y="1645920"/>
            <a:ext cx="6583680" cy="3674612"/>
          </a:xfrm>
          <a:prstGeom prst="rect">
            <a:avLst/>
          </a:prstGeom>
        </p:spPr>
      </p:pic>
      <p:sp>
        <p:nvSpPr>
          <p:cNvPr id="4" name="TextBox 3"/>
          <p:cNvSpPr txBox="1"/>
          <p:nvPr/>
        </p:nvSpPr>
        <p:spPr>
          <a:xfrm>
            <a:off x="7589520" y="1645920"/>
            <a:ext cx="3931920" cy="4572000"/>
          </a:xfrm>
          <a:prstGeom prst="rect">
            <a:avLst/>
          </a:prstGeom>
          <a:noFill/>
        </p:spPr>
        <p:txBody>
          <a:bodyPr wrap="square">
            <a:spAutoFit/>
          </a:bodyPr>
          <a:lstStyle/>
          <a:p>
            <a:pPr>
              <a:defRPr sz="2000" b="1">
                <a:solidFill>
                  <a:srgbClr val="00F0FF"/>
                </a:solidFill>
              </a:defRPr>
            </a:pPr>
            <a:r>
              <a:t>🎯 Core Capabilities</a:t>
            </a:r>
          </a:p>
          <a:p>
            <a:pPr>
              <a:spcBef>
                <a:spcPts val="1000"/>
              </a:spcBef>
              <a:defRPr sz="1300">
                <a:solidFill>
                  <a:srgbClr val="FFFFFF"/>
                </a:solidFill>
              </a:defRPr>
            </a:pPr>
            <a:r>
              <a:t>• Real-Time Ecosystem KPIs: Instant counts of registered projects, verified talent, industry challenges, and global readiness.</a:t>
            </a:r>
          </a:p>
          <a:p>
            <a:pPr>
              <a:spcBef>
                <a:spcPts val="1000"/>
              </a:spcBef>
              <a:defRPr sz="1300">
                <a:solidFill>
                  <a:srgbClr val="FFFFFF"/>
                </a:solidFill>
              </a:defRPr>
            </a:pPr>
            <a:r>
              <a:t>• De-Clustered Analytics: Ranked horizontal bar chart eliminating label crowding across all 8 strategic economic sectors.</a:t>
            </a:r>
          </a:p>
          <a:p>
            <a:pPr>
              <a:spcBef>
                <a:spcPts val="1000"/>
              </a:spcBef>
              <a:defRPr sz="1300">
                <a:solidFill>
                  <a:srgbClr val="FFFFFF"/>
                </a:solidFill>
              </a:defRPr>
            </a:pPr>
            <a:r>
              <a:t>• Verified vs. Demo Modes: Clear toggle to isolate genuine verified submissions from seed baseline datasets.</a:t>
            </a:r>
          </a:p>
          <a:p>
            <a:pPr>
              <a:spcBef>
                <a:spcPts val="1000"/>
              </a:spcBef>
              <a:defRPr sz="1300">
                <a:solidFill>
                  <a:srgbClr val="FFFFFF"/>
                </a:solidFill>
              </a:defRPr>
            </a:pPr>
            <a:r>
              <a:t>• Multi-Device Fluid Layout: Responsive design tested on mobile phones, tablets, and desktop workstations.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92E"/>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800" b="1">
                <a:solidFill>
                  <a:srgbClr val="FFFFFF"/>
                </a:solidFill>
                <a:latin typeface="Calibri"/>
              </a:defRPr>
            </a:pPr>
            <a:r>
              <a:t>Culturally Grounded in Odisha's Strategic Sectors</a:t>
            </a:r>
          </a:p>
          <a:p>
            <a:pPr>
              <a:spcBef>
                <a:spcPts val="400"/>
              </a:spcBef>
              <a:defRPr sz="1300">
                <a:solidFill>
                  <a:srgbClr val="00F0FF"/>
                </a:solidFill>
                <a:latin typeface="Calibri"/>
              </a:defRPr>
            </a:pPr>
            <a:r>
              <a:t>Solving genuine high-impact problems across the state's economic backbone</a:t>
            </a:r>
          </a:p>
        </p:txBody>
      </p:sp>
      <p:sp>
        <p:nvSpPr>
          <p:cNvPr id="3" name="Rounded Rectangle 2"/>
          <p:cNvSpPr/>
          <p:nvPr/>
        </p:nvSpPr>
        <p:spPr>
          <a:xfrm>
            <a:off x="731520" y="1645920"/>
            <a:ext cx="5120640" cy="2011680"/>
          </a:xfrm>
          <a:prstGeom prst="roundRect">
            <a:avLst/>
          </a:prstGeom>
          <a:solidFill>
            <a:srgbClr val="0F21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0B981"/>
                </a:solidFill>
              </a:defRPr>
            </a:pPr>
            <a:r>
              <a:t>🌾 PaddyShield AI  (Bargarh / Western Odisha)</a:t>
            </a:r>
          </a:p>
          <a:p>
            <a:pPr>
              <a:spcBef>
                <a:spcPts val="800"/>
              </a:spcBef>
              <a:defRPr sz="1300">
                <a:solidFill>
                  <a:srgbClr val="FFFFFF"/>
                </a:solidFill>
              </a:defRPr>
            </a:pPr>
            <a:r>
              <a:t>Edge-quantized CNN for early blast and planthopper detection in paddy fields, running offline on low-cost smartphones.</a:t>
            </a:r>
          </a:p>
        </p:txBody>
      </p:sp>
      <p:sp>
        <p:nvSpPr>
          <p:cNvPr id="4" name="Rounded Rectangle 3"/>
          <p:cNvSpPr/>
          <p:nvPr/>
        </p:nvSpPr>
        <p:spPr>
          <a:xfrm>
            <a:off x="6126480" y="1645920"/>
            <a:ext cx="5120640" cy="2011680"/>
          </a:xfrm>
          <a:prstGeom prst="roundRect">
            <a:avLst/>
          </a:prstGeom>
          <a:solidFill>
            <a:srgbClr val="0F213A"/>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00F0FF"/>
                </a:solidFill>
              </a:defRPr>
            </a:pPr>
            <a:r>
              <a:t>🌊 CycloneEye Odisha  (Puri &amp; Coastal Zone)</a:t>
            </a:r>
          </a:p>
          <a:p>
            <a:pPr>
              <a:spcBef>
                <a:spcPts val="800"/>
              </a:spcBef>
              <a:defRPr sz="1300">
                <a:solidFill>
                  <a:srgbClr val="FFFFFF"/>
                </a:solidFill>
              </a:defRPr>
            </a:pPr>
            <a:r>
              <a:t>Physics-guided neural networks for storm surge height and inundation modeling using Doppler weather radar telemetry.</a:t>
            </a:r>
          </a:p>
        </p:txBody>
      </p:sp>
      <p:sp>
        <p:nvSpPr>
          <p:cNvPr id="5" name="Rounded Rectangle 4"/>
          <p:cNvSpPr/>
          <p:nvPr/>
        </p:nvSpPr>
        <p:spPr>
          <a:xfrm>
            <a:off x="731520" y="3931920"/>
            <a:ext cx="5120640" cy="2011680"/>
          </a:xfrm>
          <a:prstGeom prst="roundRect">
            <a:avLst/>
          </a:prstGeom>
          <a:solidFill>
            <a:srgbClr val="0F21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 Kalinganagar Slag AI  (Jajpur Industrial Corridor)</a:t>
            </a:r>
          </a:p>
          <a:p>
            <a:pPr>
              <a:spcBef>
                <a:spcPts val="800"/>
              </a:spcBef>
              <a:defRPr sz="1300">
                <a:solidFill>
                  <a:srgbClr val="FFFFFF"/>
                </a:solidFill>
              </a:defRPr>
            </a:pPr>
            <a:r>
              <a:t>Computer vision for high-temperature blast furnace slag foaming detection with sub-50ms latency for worker safety.</a:t>
            </a:r>
          </a:p>
        </p:txBody>
      </p:sp>
      <p:sp>
        <p:nvSpPr>
          <p:cNvPr id="6" name="Rounded Rectangle 5"/>
          <p:cNvSpPr/>
          <p:nvPr/>
        </p:nvSpPr>
        <p:spPr>
          <a:xfrm>
            <a:off x="6126480" y="3931920"/>
            <a:ext cx="5120640" cy="2011680"/>
          </a:xfrm>
          <a:prstGeom prst="roundRect">
            <a:avLst/>
          </a:prstGeom>
          <a:solidFill>
            <a:srgbClr val="0F213A"/>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defRPr>
            </a:pPr>
            <a:r>
              <a:t>🧵 Sambalpuri Heritage AI  (Bargarh &amp; Sonepur)</a:t>
            </a:r>
          </a:p>
          <a:p>
            <a:pPr>
              <a:spcBef>
                <a:spcPts val="800"/>
              </a:spcBef>
              <a:defRPr sz="1300">
                <a:solidFill>
                  <a:srgbClr val="FFFFFF"/>
                </a:solidFill>
              </a:defRPr>
            </a:pPr>
            <a:r>
              <a:t>Authenticates traditional handloom weave geometry and provides immutable digital IP protection for weaver cooperatives.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92E"/>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800" b="1">
                <a:solidFill>
                  <a:srgbClr val="FFFFFF"/>
                </a:solidFill>
                <a:latin typeface="Calibri"/>
              </a:defRPr>
            </a:pPr>
            <a:r>
              <a:t>Inclusive Accessibility: Odia, Hindi &amp; Web Speech Audio</a:t>
            </a:r>
          </a:p>
          <a:p>
            <a:pPr>
              <a:spcBef>
                <a:spcPts val="400"/>
              </a:spcBef>
              <a:defRPr sz="1300">
                <a:solidFill>
                  <a:srgbClr val="00F0FF"/>
                </a:solidFill>
                <a:latin typeface="Calibri"/>
              </a:defRPr>
            </a:pPr>
            <a:r>
              <a:t>Breaking the digital divide for rural entrepreneurs, artisans, and non-English speakers</a:t>
            </a:r>
          </a:p>
        </p:txBody>
      </p:sp>
      <p:pic>
        <p:nvPicPr>
          <p:cNvPr id="3" name="Picture 2" descr="2_multilingual_voice.jpg"/>
          <p:cNvPicPr>
            <a:picLocks noChangeAspect="1"/>
          </p:cNvPicPr>
          <p:nvPr/>
        </p:nvPicPr>
        <p:blipFill>
          <a:blip r:embed="rId2"/>
          <a:stretch>
            <a:fillRect/>
          </a:stretch>
        </p:blipFill>
        <p:spPr>
          <a:xfrm>
            <a:off x="731520" y="1645920"/>
            <a:ext cx="6583680" cy="3674612"/>
          </a:xfrm>
          <a:prstGeom prst="rect">
            <a:avLst/>
          </a:prstGeom>
        </p:spPr>
      </p:pic>
      <p:sp>
        <p:nvSpPr>
          <p:cNvPr id="4" name="TextBox 3"/>
          <p:cNvSpPr txBox="1"/>
          <p:nvPr/>
        </p:nvSpPr>
        <p:spPr>
          <a:xfrm>
            <a:off x="7589520" y="1645920"/>
            <a:ext cx="3931920" cy="4572000"/>
          </a:xfrm>
          <a:prstGeom prst="rect">
            <a:avLst/>
          </a:prstGeom>
          <a:noFill/>
        </p:spPr>
        <p:txBody>
          <a:bodyPr wrap="square">
            <a:spAutoFit/>
          </a:bodyPr>
          <a:lstStyle/>
          <a:p>
            <a:pPr>
              <a:defRPr sz="2000" b="1">
                <a:solidFill>
                  <a:srgbClr val="00F0FF"/>
                </a:solidFill>
              </a:defRPr>
            </a:pPr>
            <a:r>
              <a:t>🗣️ Voice &amp; Native Language</a:t>
            </a:r>
          </a:p>
          <a:p>
            <a:pPr>
              <a:spcBef>
                <a:spcPts val="1000"/>
              </a:spcBef>
              <a:defRPr sz="1300">
                <a:solidFill>
                  <a:srgbClr val="FFFFFF"/>
                </a:solidFill>
              </a:defRPr>
            </a:pPr>
            <a:r>
              <a:t>• Tri-Lingual Localization: Full native script translation for English, Odia (ଓଡ଼ିଆ), and Hindi (हिन्दी) with authentic fonts (Noto Sans Oriya/Devanagari).</a:t>
            </a:r>
          </a:p>
          <a:p>
            <a:pPr>
              <a:spcBef>
                <a:spcPts val="1000"/>
              </a:spcBef>
              <a:defRPr sz="1300">
                <a:solidFill>
                  <a:srgbClr val="FFFFFF"/>
                </a:solidFill>
              </a:defRPr>
            </a:pPr>
            <a:r>
              <a:t>• Web Speech Audio Reader (TTS): Embedded browser narrator speaking page briefings aloud in Odia or Hindi with play/pause wave animation.</a:t>
            </a:r>
          </a:p>
          <a:p>
            <a:pPr>
              <a:spcBef>
                <a:spcPts val="1000"/>
              </a:spcBef>
              <a:defRPr sz="1300">
                <a:solidFill>
                  <a:srgbClr val="FFFFFF"/>
                </a:solidFill>
              </a:defRPr>
            </a:pPr>
            <a:r>
              <a:t>• Voice Microphone Search (STT): Tap the mic to speak search queries in Odia (or-IN) or Hindi (hi-IN) without typing English keywords.</a:t>
            </a:r>
          </a:p>
          <a:p>
            <a:pPr>
              <a:spcBef>
                <a:spcPts val="1000"/>
              </a:spcBef>
              <a:defRPr sz="1300">
                <a:solidFill>
                  <a:srgbClr val="FFFFFF"/>
                </a:solidFill>
              </a:defRPr>
            </a:pPr>
            <a:r>
              <a:t>• Inclusive Grassroots Adoption: Enables rural artisans and farmers to discover and utilize applied 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92E"/>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800" b="1">
                <a:solidFill>
                  <a:srgbClr val="FFFFFF"/>
                </a:solidFill>
                <a:latin typeface="Calibri"/>
              </a:defRPr>
            </a:pPr>
            <a:r>
              <a:t>AI Opportunity Explorer &amp; 6-Factor Decision Support</a:t>
            </a:r>
          </a:p>
          <a:p>
            <a:pPr>
              <a:spcBef>
                <a:spcPts val="400"/>
              </a:spcBef>
              <a:defRPr sz="1300">
                <a:solidFill>
                  <a:srgbClr val="00F0FF"/>
                </a:solidFill>
                <a:latin typeface="Calibri"/>
              </a:defRPr>
            </a:pPr>
            <a:r>
              <a:t>Transparent, explainable heuristic scoring to stress-test regional AI product viability</a:t>
            </a:r>
          </a:p>
        </p:txBody>
      </p:sp>
      <p:pic>
        <p:nvPicPr>
          <p:cNvPr id="3" name="Picture 2" descr="3_opportunity_explorer.jpg"/>
          <p:cNvPicPr>
            <a:picLocks noChangeAspect="1"/>
          </p:cNvPicPr>
          <p:nvPr/>
        </p:nvPicPr>
        <p:blipFill>
          <a:blip r:embed="rId2"/>
          <a:stretch>
            <a:fillRect/>
          </a:stretch>
        </p:blipFill>
        <p:spPr>
          <a:xfrm>
            <a:off x="731520" y="1645920"/>
            <a:ext cx="6583680" cy="3674612"/>
          </a:xfrm>
          <a:prstGeom prst="rect">
            <a:avLst/>
          </a:prstGeom>
        </p:spPr>
      </p:pic>
      <p:sp>
        <p:nvSpPr>
          <p:cNvPr id="4" name="TextBox 3"/>
          <p:cNvSpPr txBox="1"/>
          <p:nvPr/>
        </p:nvSpPr>
        <p:spPr>
          <a:xfrm>
            <a:off x="7589520" y="1645920"/>
            <a:ext cx="3931920" cy="4572000"/>
          </a:xfrm>
          <a:prstGeom prst="rect">
            <a:avLst/>
          </a:prstGeom>
          <a:noFill/>
        </p:spPr>
        <p:txBody>
          <a:bodyPr wrap="square">
            <a:spAutoFit/>
          </a:bodyPr>
          <a:lstStyle/>
          <a:p>
            <a:pPr>
              <a:defRPr sz="2000" b="1">
                <a:solidFill>
                  <a:srgbClr val="00F0FF"/>
                </a:solidFill>
              </a:defRPr>
            </a:pPr>
            <a:r>
              <a:t>📊 Transparent Intelligence</a:t>
            </a:r>
          </a:p>
          <a:p>
            <a:pPr>
              <a:spcBef>
                <a:spcPts val="1000"/>
              </a:spcBef>
              <a:defRPr sz="1300">
                <a:solidFill>
                  <a:srgbClr val="FFFFFF"/>
                </a:solidFill>
              </a:defRPr>
            </a:pPr>
            <a:r>
              <a:t>• Composite 0–100 Score Gauge: Weighted multi-criteria decision analysis across technical, economic, and operational dimensions.</a:t>
            </a:r>
          </a:p>
          <a:p>
            <a:pPr>
              <a:spcBef>
                <a:spcPts val="1000"/>
              </a:spcBef>
              <a:defRPr sz="1300">
                <a:solidFill>
                  <a:srgbClr val="FFFFFF"/>
                </a:solidFill>
              </a:defRPr>
            </a:pPr>
            <a:r>
              <a:t>• 6-Factor Radar Polygon Chart: Evaluates Feasibility, Relevance, Socio-Economic Impact, Global Potential, Budget, and Data Viability.</a:t>
            </a:r>
          </a:p>
          <a:p>
            <a:pPr>
              <a:spcBef>
                <a:spcPts val="1000"/>
              </a:spcBef>
              <a:defRPr sz="1300">
                <a:solidFill>
                  <a:srgbClr val="FFFFFF"/>
                </a:solidFill>
              </a:defRPr>
            </a:pPr>
            <a:r>
              <a:t>• Actionable Diagnoses: Automatically highlights identified strengths, operational blindspots, and missing telemetry.</a:t>
            </a:r>
          </a:p>
          <a:p>
            <a:pPr>
              <a:spcBef>
                <a:spcPts val="1000"/>
              </a:spcBef>
              <a:defRPr sz="1300">
                <a:solidFill>
                  <a:srgbClr val="FFFFFF"/>
                </a:solidFill>
              </a:defRPr>
            </a:pPr>
            <a:r>
              <a:t>• Export Corridor Hypotheses: Automatically links solutions to international target regions (e.g. ASEAN, Coastal Europe).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92E"/>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800" b="1">
                <a:solidFill>
                  <a:srgbClr val="FFFFFF"/>
                </a:solidFill>
                <a:latin typeface="Calibri"/>
              </a:defRPr>
            </a:pPr>
            <a:r>
              <a:t>Talent Exchange &amp; Bidirectional Synergy Matcher</a:t>
            </a:r>
          </a:p>
          <a:p>
            <a:pPr>
              <a:spcBef>
                <a:spcPts val="400"/>
              </a:spcBef>
              <a:defRPr sz="1300">
                <a:solidFill>
                  <a:srgbClr val="00F0FF"/>
                </a:solidFill>
                <a:latin typeface="Calibri"/>
              </a:defRPr>
            </a:pPr>
            <a:r>
              <a:t>Connecting 30 districts of students, ML engineers, and researchers with real projects</a:t>
            </a:r>
          </a:p>
        </p:txBody>
      </p:sp>
      <p:pic>
        <p:nvPicPr>
          <p:cNvPr id="3" name="Picture 2" descr="4_talent_matcher.jpg"/>
          <p:cNvPicPr>
            <a:picLocks noChangeAspect="1"/>
          </p:cNvPicPr>
          <p:nvPr/>
        </p:nvPicPr>
        <p:blipFill>
          <a:blip r:embed="rId2"/>
          <a:stretch>
            <a:fillRect/>
          </a:stretch>
        </p:blipFill>
        <p:spPr>
          <a:xfrm>
            <a:off x="731520" y="1645920"/>
            <a:ext cx="6583680" cy="3674612"/>
          </a:xfrm>
          <a:prstGeom prst="rect">
            <a:avLst/>
          </a:prstGeom>
        </p:spPr>
      </p:pic>
      <p:sp>
        <p:nvSpPr>
          <p:cNvPr id="4" name="TextBox 3"/>
          <p:cNvSpPr txBox="1"/>
          <p:nvPr/>
        </p:nvSpPr>
        <p:spPr>
          <a:xfrm>
            <a:off x="7589520" y="1645920"/>
            <a:ext cx="3931920" cy="4572000"/>
          </a:xfrm>
          <a:prstGeom prst="rect">
            <a:avLst/>
          </a:prstGeom>
          <a:noFill/>
        </p:spPr>
        <p:txBody>
          <a:bodyPr wrap="square">
            <a:spAutoFit/>
          </a:bodyPr>
          <a:lstStyle/>
          <a:p>
            <a:pPr>
              <a:defRPr sz="2000" b="1">
                <a:solidFill>
                  <a:srgbClr val="00F0FF"/>
                </a:solidFill>
              </a:defRPr>
            </a:pPr>
            <a:r>
              <a:t>👥 Privacy-First Matchmaking</a:t>
            </a:r>
          </a:p>
          <a:p>
            <a:pPr>
              <a:spcBef>
                <a:spcPts val="1000"/>
              </a:spcBef>
              <a:defRPr sz="1300">
                <a:solidFill>
                  <a:srgbClr val="FFFFFF"/>
                </a:solidFill>
              </a:defRPr>
            </a:pPr>
            <a:r>
              <a:t>• Privacy Safeguards: Direct contact emails masked by default (s*@iitbbs.ac.in) to stop scraping while keeping portfolios accessible.</a:t>
            </a:r>
          </a:p>
          <a:p>
            <a:pPr>
              <a:spcBef>
                <a:spcPts val="1000"/>
              </a:spcBef>
              <a:defRPr sz="1300">
                <a:solidFill>
                  <a:srgbClr val="FFFFFF"/>
                </a:solidFill>
              </a:defRPr>
            </a:pPr>
            <a:r>
              <a:t>• Mathematical Synergy Scoring: Matches skills, domain affinity, and district proximity with explainable match reasons.</a:t>
            </a:r>
          </a:p>
          <a:p>
            <a:pPr>
              <a:spcBef>
                <a:spcPts val="1000"/>
              </a:spcBef>
              <a:defRPr sz="1300">
                <a:solidFill>
                  <a:srgbClr val="FFFFFF"/>
                </a:solidFill>
              </a:defRPr>
            </a:pPr>
            <a:r>
              <a:t>• Bidirectional Perspective: Pair projects with top researchers OR pair researchers with live industry challenges.</a:t>
            </a:r>
          </a:p>
          <a:p>
            <a:pPr>
              <a:spcBef>
                <a:spcPts val="1000"/>
              </a:spcBef>
              <a:defRPr sz="1300">
                <a:solidFill>
                  <a:srgbClr val="FFFFFF"/>
                </a:solidFill>
              </a:defRPr>
            </a:pPr>
            <a:r>
              <a:t>• Cross-District Cohorts: Connecting IIT Bhubaneswar, NIT Rourkela, and VSSUT with MSMEs in remote districts.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92E"/>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800" b="1">
                <a:solidFill>
                  <a:srgbClr val="FFFFFF"/>
                </a:solidFill>
                <a:latin typeface="Calibri"/>
              </a:defRPr>
            </a:pPr>
            <a:r>
              <a:t>100% Local Autonomous Architecture &amp; Tight Security</a:t>
            </a:r>
          </a:p>
          <a:p>
            <a:pPr>
              <a:spcBef>
                <a:spcPts val="400"/>
              </a:spcBef>
              <a:defRPr sz="1300">
                <a:solidFill>
                  <a:srgbClr val="00F0FF"/>
                </a:solidFill>
                <a:latin typeface="Calibri"/>
              </a:defRPr>
            </a:pPr>
            <a:r>
              <a:t>Zero secondary cloud or Firebase lock-in; robust local cryptography and RBAC</a:t>
            </a:r>
          </a:p>
        </p:txBody>
      </p:sp>
      <p:sp>
        <p:nvSpPr>
          <p:cNvPr id="3" name="Rounded Rectangle 2"/>
          <p:cNvSpPr/>
          <p:nvPr/>
        </p:nvSpPr>
        <p:spPr>
          <a:xfrm>
            <a:off x="731520" y="1645920"/>
            <a:ext cx="2560320" cy="4389120"/>
          </a:xfrm>
          <a:prstGeom prst="roundRect">
            <a:avLst/>
          </a:prstGeom>
          <a:solidFill>
            <a:srgbClr val="0F213A"/>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00F0FF"/>
                </a:solidFill>
              </a:defRPr>
            </a:pPr>
            <a:r>
              <a:t>🔒 Zero Cloud Dependency</a:t>
            </a:r>
          </a:p>
          <a:p>
            <a:pPr>
              <a:spcBef>
                <a:spcPts val="1400"/>
              </a:spcBef>
              <a:defRPr sz="1300">
                <a:solidFill>
                  <a:srgbClr val="FFFFFF"/>
                </a:solidFill>
              </a:defRPr>
            </a:pPr>
            <a:r>
              <a:t>100% local SQLite database running offline on personal hardware. Zero Firebase, zero external subscriptions. PostgreSQL-ready via psycopg2-binary.</a:t>
            </a:r>
          </a:p>
        </p:txBody>
      </p:sp>
      <p:sp>
        <p:nvSpPr>
          <p:cNvPr id="4" name="Rounded Rectangle 3"/>
          <p:cNvSpPr/>
          <p:nvPr/>
        </p:nvSpPr>
        <p:spPr>
          <a:xfrm>
            <a:off x="3456432" y="1645920"/>
            <a:ext cx="2560320" cy="4389120"/>
          </a:xfrm>
          <a:prstGeom prst="roundRect">
            <a:avLst/>
          </a:prstGeom>
          <a:solidFill>
            <a:srgbClr val="0F21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0B981"/>
                </a:solidFill>
              </a:defRPr>
            </a:pPr>
            <a:r>
              <a:t>🛡️ Tamper-Proof Sessions</a:t>
            </a:r>
          </a:p>
          <a:p>
            <a:pPr>
              <a:spcBef>
                <a:spcPts val="1400"/>
              </a:spcBef>
              <a:defRPr sz="1300">
                <a:solidFill>
                  <a:srgbClr val="FFFFFF"/>
                </a:solidFill>
              </a:defRPr>
            </a:pPr>
            <a:r>
              <a:t>Sessions signed with internal HMAC-SHA256 tokens and sliding expiration. Modifying client claims triggers immediate cryptographic rejection.</a:t>
            </a:r>
          </a:p>
        </p:txBody>
      </p:sp>
      <p:sp>
        <p:nvSpPr>
          <p:cNvPr id="5" name="Rounded Rectangle 4"/>
          <p:cNvSpPr/>
          <p:nvPr/>
        </p:nvSpPr>
        <p:spPr>
          <a:xfrm>
            <a:off x="6181344" y="1645920"/>
            <a:ext cx="2560320" cy="4389120"/>
          </a:xfrm>
          <a:prstGeom prst="roundRect">
            <a:avLst/>
          </a:prstGeom>
          <a:solidFill>
            <a:srgbClr val="0F213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59E0B"/>
                </a:solidFill>
              </a:defRPr>
            </a:pPr>
            <a:r>
              <a:t>👥 Role-Based Access (RBAC)</a:t>
            </a:r>
          </a:p>
          <a:p>
            <a:pPr>
              <a:spcBef>
                <a:spcPts val="1400"/>
              </a:spcBef>
              <a:defRPr sz="1300">
                <a:solidFill>
                  <a:srgbClr val="FFFFFF"/>
                </a:solidFill>
              </a:defRPr>
            </a:pPr>
            <a:r>
              <a:t>Strict authorization hierarchy: Guest, Talent, Innovator, Industry, and Admin with enforced granular permissions.</a:t>
            </a:r>
          </a:p>
        </p:txBody>
      </p:sp>
      <p:sp>
        <p:nvSpPr>
          <p:cNvPr id="6" name="Rounded Rectangle 5"/>
          <p:cNvSpPr/>
          <p:nvPr/>
        </p:nvSpPr>
        <p:spPr>
          <a:xfrm>
            <a:off x="8906256" y="1645920"/>
            <a:ext cx="2560320" cy="4389120"/>
          </a:xfrm>
          <a:prstGeom prst="roundRect">
            <a:avLst/>
          </a:prstGeom>
          <a:solidFill>
            <a:srgbClr val="0F213A"/>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defRPr>
            </a:pPr>
            <a:r>
              <a:t>📋 Immutable Audit Trails</a:t>
            </a:r>
          </a:p>
          <a:p>
            <a:pPr>
              <a:spcBef>
                <a:spcPts val="1400"/>
              </a:spcBef>
              <a:defRPr sz="1300">
                <a:solidFill>
                  <a:srgbClr val="FFFFFF"/>
                </a:solidFill>
              </a:defRPr>
            </a:pPr>
            <a:r>
              <a:t>Every sign-in, permission denial, and data update is recorded persistently in local SQLite auth_audit_logs for forensics.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92E"/>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800" b="1">
                <a:solidFill>
                  <a:srgbClr val="FFFFFF"/>
                </a:solidFill>
                <a:latin typeface="Calibri"/>
              </a:defRPr>
            </a:pPr>
            <a:r>
              <a:t>10-Point Global Export Readiness &amp; PDF Dossiers</a:t>
            </a:r>
          </a:p>
          <a:p>
            <a:pPr>
              <a:spcBef>
                <a:spcPts val="400"/>
              </a:spcBef>
              <a:defRPr sz="1300">
                <a:solidFill>
                  <a:srgbClr val="00F0FF"/>
                </a:solidFill>
                <a:latin typeface="Calibri"/>
              </a:defRPr>
            </a:pPr>
            <a:r>
              <a:t>Guiding local innovations to international commercial readiness and compliance</a:t>
            </a:r>
          </a:p>
        </p:txBody>
      </p:sp>
      <p:sp>
        <p:nvSpPr>
          <p:cNvPr id="3" name="Rounded Rectangle 2"/>
          <p:cNvSpPr/>
          <p:nvPr/>
        </p:nvSpPr>
        <p:spPr>
          <a:xfrm>
            <a:off x="731520" y="1645920"/>
            <a:ext cx="5120640" cy="4389120"/>
          </a:xfrm>
          <a:prstGeom prst="roundRect">
            <a:avLst/>
          </a:prstGeom>
          <a:solidFill>
            <a:srgbClr val="0F213A"/>
          </a:solidFill>
          <a:ln>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0F0FF"/>
                </a:solidFill>
              </a:defRPr>
            </a:pPr>
            <a:r>
              <a:t>📋 10-Point Global Readiness Framework</a:t>
            </a:r>
          </a:p>
          <a:p>
            <a:pPr>
              <a:spcBef>
                <a:spcPts val="800"/>
              </a:spcBef>
              <a:defRPr sz="1200">
                <a:solidFill>
                  <a:srgbClr val="FFFFFF"/>
                </a:solidFill>
              </a:defRPr>
            </a:pPr>
            <a:r>
              <a:t>✓ Data Privacy: DPDP Act 2023 &amp; GDPR compliance</a:t>
            </a:r>
          </a:p>
          <a:p>
            <a:pPr>
              <a:spcBef>
                <a:spcPts val="800"/>
              </a:spcBef>
              <a:defRPr sz="1200">
                <a:solidFill>
                  <a:srgbClr val="FFFFFF"/>
                </a:solidFill>
              </a:defRPr>
            </a:pPr>
            <a:r>
              <a:t>✓ Explainability: SHAP/LIME feature attribution</a:t>
            </a:r>
          </a:p>
          <a:p>
            <a:pPr>
              <a:spcBef>
                <a:spcPts val="800"/>
              </a:spcBef>
              <a:defRPr sz="1200">
                <a:solidFill>
                  <a:srgbClr val="FFFFFF"/>
                </a:solidFill>
              </a:defRPr>
            </a:pPr>
            <a:r>
              <a:t>✓ Edge / Offline Fit: Low latency under dust/intermittent network</a:t>
            </a:r>
          </a:p>
          <a:p>
            <a:pPr>
              <a:spcBef>
                <a:spcPts val="800"/>
              </a:spcBef>
              <a:defRPr sz="1200">
                <a:solidFill>
                  <a:srgbClr val="FFFFFF"/>
                </a:solidFill>
              </a:defRPr>
            </a:pPr>
            <a:r>
              <a:t>✓ Multilingual UI: Odia, Hindi, English accessibility</a:t>
            </a:r>
          </a:p>
          <a:p>
            <a:pPr>
              <a:spcBef>
                <a:spcPts val="800"/>
              </a:spcBef>
              <a:defRPr sz="1200">
                <a:solidFill>
                  <a:srgbClr val="FFFFFF"/>
                </a:solidFill>
              </a:defRPr>
            </a:pPr>
            <a:r>
              <a:t>✓ Security &amp; Bias: OWASP LLM Top 10 + benchmark tests</a:t>
            </a:r>
          </a:p>
          <a:p>
            <a:pPr>
              <a:spcBef>
                <a:spcPts val="800"/>
              </a:spcBef>
              <a:defRPr sz="1200">
                <a:solidFill>
                  <a:srgbClr val="FFFFFF"/>
                </a:solidFill>
              </a:defRPr>
            </a:pPr>
            <a:r>
              <a:t>✓ Export Packaging: Docker containers &amp; CI/CD readiness</a:t>
            </a:r>
          </a:p>
        </p:txBody>
      </p:sp>
      <p:sp>
        <p:nvSpPr>
          <p:cNvPr id="4" name="Rounded Rectangle 3"/>
          <p:cNvSpPr/>
          <p:nvPr/>
        </p:nvSpPr>
        <p:spPr>
          <a:xfrm>
            <a:off x="6217920" y="1645920"/>
            <a:ext cx="5120640" cy="4389120"/>
          </a:xfrm>
          <a:prstGeom prst="roundRect">
            <a:avLst/>
          </a:prstGeom>
          <a:solidFill>
            <a:srgbClr val="0F213A"/>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0B981"/>
                </a:solidFill>
              </a:defRPr>
            </a:pPr>
            <a:r>
              <a:t>📑 Executive Dossiers &amp; Data Exports</a:t>
            </a:r>
          </a:p>
          <a:p>
            <a:pPr>
              <a:spcBef>
                <a:spcPts val="800"/>
              </a:spcBef>
              <a:defRPr sz="1200">
                <a:solidFill>
                  <a:srgbClr val="FFFFFF"/>
                </a:solidFill>
              </a:defRPr>
            </a:pPr>
            <a:r>
              <a:t>• One-Click PDF Dossiers: Multi-page executive intelligence briefings compiled via ReportLab with ecosystem stats.</a:t>
            </a:r>
          </a:p>
          <a:p>
            <a:pPr>
              <a:spcBef>
                <a:spcPts val="800"/>
              </a:spcBef>
              <a:defRPr sz="1200">
                <a:solidFill>
                  <a:srgbClr val="FFFFFF"/>
                </a:solidFill>
              </a:defRPr>
            </a:pPr>
            <a:r>
              <a:t>• RFC 4180 CSV Exports: Download full datasets for projects, talent, challenges, and evaluations.</a:t>
            </a:r>
          </a:p>
          <a:p>
            <a:pPr>
              <a:spcBef>
                <a:spcPts val="800"/>
              </a:spcBef>
              <a:defRPr sz="1200">
                <a:solidFill>
                  <a:srgbClr val="FFFFFF"/>
                </a:solidFill>
              </a:defRPr>
            </a:pPr>
            <a:r>
              <a:t>• Audit Snapshot Table: Complete breakdown of verified real user submissions vs demonstration data.</a:t>
            </a:r>
          </a:p>
          <a:p>
            <a:pPr>
              <a:spcBef>
                <a:spcPts val="800"/>
              </a:spcBef>
              <a:defRPr sz="1200">
                <a:solidFill>
                  <a:srgbClr val="FFFFFF"/>
                </a:solidFill>
              </a:defRPr>
            </a:pPr>
            <a:r>
              <a:t>• Cross-Border Hypotheses: Mapping disaster tech to ASEAN and metallurgy AI to global industrial corridors.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92E"/>
        </a:solidFill>
        <a:effectLst/>
      </p:bgPr>
    </p:bg>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defRPr sz="2800" b="1">
                <a:solidFill>
                  <a:srgbClr val="FFFFFF"/>
                </a:solidFill>
                <a:latin typeface="Calibri"/>
              </a:defRPr>
            </a:pPr>
            <a:r>
              <a:t>Strategic Execution Roadmap &amp; Pitch Conclusion</a:t>
            </a:r>
          </a:p>
          <a:p>
            <a:pPr>
              <a:spcBef>
                <a:spcPts val="400"/>
              </a:spcBef>
              <a:defRPr sz="1300">
                <a:solidFill>
                  <a:srgbClr val="00F0FF"/>
                </a:solidFill>
                <a:latin typeface="Calibri"/>
              </a:defRPr>
            </a:pPr>
            <a:r>
              <a:t>Odisha AI Nexus: Empowering local talent to solve regional problems and create global impact</a:t>
            </a:r>
          </a:p>
        </p:txBody>
      </p:sp>
      <p:sp>
        <p:nvSpPr>
          <p:cNvPr id="3" name="Rounded Rectangle 2"/>
          <p:cNvSpPr/>
          <p:nvPr/>
        </p:nvSpPr>
        <p:spPr>
          <a:xfrm>
            <a:off x="731520" y="1645920"/>
            <a:ext cx="10728655" cy="1005840"/>
          </a:xfrm>
          <a:prstGeom prst="roundRect">
            <a:avLst/>
          </a:prstGeom>
          <a:solidFill>
            <a:srgbClr val="0F21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0B981"/>
                </a:solidFill>
              </a:defRPr>
            </a:pPr>
            <a:r>
              <a:t>Phase 1: Core Platform Foundation  —  [COMPLETED]</a:t>
            </a:r>
          </a:p>
          <a:p>
            <a:pPr>
              <a:spcBef>
                <a:spcPts val="400"/>
              </a:spcBef>
              <a:defRPr sz="1200">
                <a:solidFill>
                  <a:srgbClr val="FFFFFF"/>
                </a:solidFill>
              </a:defRPr>
            </a:pPr>
            <a:r>
              <a:t>Persistent SQLite architecture, Project Registry, Challenge Board, Opportunity Explorer, ReportLab PDF generation.</a:t>
            </a:r>
          </a:p>
        </p:txBody>
      </p:sp>
      <p:sp>
        <p:nvSpPr>
          <p:cNvPr id="4" name="Rounded Rectangle 3"/>
          <p:cNvSpPr/>
          <p:nvPr/>
        </p:nvSpPr>
        <p:spPr>
          <a:xfrm>
            <a:off x="731520" y="2788920"/>
            <a:ext cx="10728655" cy="1005840"/>
          </a:xfrm>
          <a:prstGeom prst="roundRect">
            <a:avLst/>
          </a:prstGeom>
          <a:solidFill>
            <a:srgbClr val="0F213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0B981"/>
                </a:solidFill>
              </a:defRPr>
            </a:pPr>
            <a:r>
              <a:t>Phase 2: Multilingual Odia &amp; Hindi UI  —  [COMPLETED]</a:t>
            </a:r>
          </a:p>
          <a:p>
            <a:pPr>
              <a:spcBef>
                <a:spcPts val="400"/>
              </a:spcBef>
              <a:defRPr sz="1200">
                <a:solidFill>
                  <a:srgbClr val="FFFFFF"/>
                </a:solidFill>
              </a:defRPr>
            </a:pPr>
            <a:r>
              <a:t>Native Odia and Hindi scripts, Web Speech audio narration companion, and voice microphone search.</a:t>
            </a:r>
          </a:p>
        </p:txBody>
      </p:sp>
      <p:sp>
        <p:nvSpPr>
          <p:cNvPr id="5" name="Rounded Rectangle 4"/>
          <p:cNvSpPr/>
          <p:nvPr/>
        </p:nvSpPr>
        <p:spPr>
          <a:xfrm>
            <a:off x="731520" y="3931920"/>
            <a:ext cx="10728655" cy="1005840"/>
          </a:xfrm>
          <a:prstGeom prst="roundRect">
            <a:avLst/>
          </a:prstGeom>
          <a:solidFill>
            <a:srgbClr val="0F213A"/>
          </a:solidFill>
          <a:ln w="19050">
            <a:solidFill>
              <a:srgbClr val="00F0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0F0FF"/>
                </a:solidFill>
              </a:defRPr>
            </a:pPr>
            <a:r>
              <a:t>Phase 3: University Hackathons &amp; MSME Pilots  —  [PLANNED (H2 2026)]</a:t>
            </a:r>
          </a:p>
          <a:p>
            <a:pPr>
              <a:spcBef>
                <a:spcPts val="400"/>
              </a:spcBef>
              <a:defRPr sz="1200">
                <a:solidFill>
                  <a:srgbClr val="FFFFFF"/>
                </a:solidFill>
              </a:defRPr>
            </a:pPr>
            <a:r>
              <a:t>Onboarding engineering cohorts from IIT, NIT, VSSUT, and pairing them with local MSME challenges.</a:t>
            </a:r>
          </a:p>
        </p:txBody>
      </p:sp>
      <p:sp>
        <p:nvSpPr>
          <p:cNvPr id="6" name="Rounded Rectangle 5"/>
          <p:cNvSpPr/>
          <p:nvPr/>
        </p:nvSpPr>
        <p:spPr>
          <a:xfrm>
            <a:off x="731520" y="5074920"/>
            <a:ext cx="10728655" cy="1005840"/>
          </a:xfrm>
          <a:prstGeom prst="roundRect">
            <a:avLst/>
          </a:prstGeom>
          <a:solidFill>
            <a:srgbClr val="0F213A"/>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94A3B8"/>
                </a:solidFill>
              </a:defRPr>
            </a:pPr>
            <a:r>
              <a:t>Phase 4: Open Public Hydrology &amp; Satellite Telemetry  —  [PLANNED (2027)]</a:t>
            </a:r>
          </a:p>
          <a:p>
            <a:pPr>
              <a:spcBef>
                <a:spcPts val="400"/>
              </a:spcBef>
              <a:defRPr sz="1200">
                <a:solidFill>
                  <a:srgbClr val="FFFFFF"/>
                </a:solidFill>
              </a:defRPr>
            </a:pPr>
            <a:r>
              <a:t>Integration with open data (ISRO Bhuvan satellite feeds, OSDMA sensors) for live model benchmarking.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